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SECUREPAY</a:t>
            </a:r>
          </a:p>
          <a:p>
            <a:pPr algn="l">
              <a:defRPr sz="2800"/>
            </a:pPr>
            <a:r>
              <a:t>Unsupervised Credit Card Fraud Detection</a:t>
            </a:r>
          </a:p>
          <a:p>
            <a:pPr algn="l">
              <a:defRPr sz="1800"/>
            </a:pPr>
            <a:r>
              <a:t>Isolation Forest + Local Outlier Factor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Goal: detect potentially fraudulent transactions as anomalies.</a:t>
            </a:r>
          </a:p>
          <a:p>
            <a:pPr>
              <a:spcAft>
                <a:spcPts val="1000"/>
              </a:spcAft>
              <a:defRPr sz="2000"/>
            </a:pPr>
            <a:r>
              <a:t>Approach: learn normal transaction behavior rather than relying only on fixed fraud patterns.</a:t>
            </a:r>
          </a:p>
          <a:p>
            <a:pPr>
              <a:spcAft>
                <a:spcPts val="1000"/>
              </a:spcAft>
              <a:defRPr sz="2000"/>
            </a:pPr>
            <a:r>
              <a:t>Focus: extreme class imbalance and fraud-focused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Fraudulent transactions are rare.</a:t>
            </a:r>
          </a:p>
          <a:p>
            <a:pPr>
              <a:spcAft>
                <a:spcPts val="1000"/>
              </a:spcAft>
              <a:defRPr sz="2000"/>
            </a:pPr>
            <a:r>
              <a:t>A naive model can achieve high accuracy while missing fraud.</a:t>
            </a:r>
          </a:p>
          <a:p>
            <a:pPr>
              <a:spcAft>
                <a:spcPts val="1000"/>
              </a:spcAft>
              <a:defRPr sz="2000"/>
            </a:pPr>
            <a:r>
              <a:t>Precision, Recall and F1-score are therefore emphasized.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 &amp;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284,807 transactions and 30 original features.</a:t>
            </a:r>
          </a:p>
          <a:p>
            <a:pPr>
              <a:spcAft>
                <a:spcPts val="1000"/>
              </a:spcAft>
              <a:defRPr sz="2000"/>
            </a:pPr>
            <a:r>
              <a:t>Normal: 284,315 (99.827251%).</a:t>
            </a:r>
          </a:p>
          <a:p>
            <a:pPr>
              <a:spcAft>
                <a:spcPts val="1000"/>
              </a:spcAft>
              <a:defRPr sz="2000"/>
            </a:pPr>
            <a:r>
              <a:t>Fraud: 492 (0.172749%).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Analyzed class distribution, transaction Amount and Time.</a:t>
            </a:r>
          </a:p>
          <a:p>
            <a:pPr>
              <a:spcAft>
                <a:spcPts val="1000"/>
              </a:spcAft>
              <a:defRPr sz="2000"/>
            </a:pPr>
            <a:r>
              <a:t>Amount shows strong right skew and a long high-value tail.</a:t>
            </a:r>
          </a:p>
          <a:p>
            <a:pPr>
              <a:spcAft>
                <a:spcPts val="1000"/>
              </a:spcAft>
              <a:defRPr sz="2000"/>
            </a:pPr>
            <a:r>
              <a:t>Time distribution was visualized across the recorded interval.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Preprocessing – RobustScaler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Separated Class from the feature matrix.</a:t>
            </a:r>
          </a:p>
          <a:p>
            <a:pPr>
              <a:spcAft>
                <a:spcPts val="1000"/>
              </a:spcAft>
              <a:defRPr sz="2000"/>
            </a:pPr>
            <a:r>
              <a:t>Applied RobustScaler to Amount.</a:t>
            </a:r>
          </a:p>
          <a:p>
            <a:pPr>
              <a:spcAft>
                <a:spcPts val="1000"/>
              </a:spcAft>
              <a:defRPr sz="2000"/>
            </a:pPr>
            <a:r>
              <a:t>Scaled Amount median ≈ 0.000000; maximum ≈ 358.683155.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Isolation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Tree-based unsupervised anomaly detection.</a:t>
            </a:r>
          </a:p>
          <a:p>
            <a:pPr>
              <a:spcAft>
                <a:spcPts val="1000"/>
              </a:spcAft>
              <a:defRPr sz="2000"/>
            </a:pPr>
            <a:r>
              <a:t>Anomalies are observations that are easier to isolate.</a:t>
            </a:r>
          </a:p>
          <a:p>
            <a:pPr>
              <a:spcAft>
                <a:spcPts val="1000"/>
              </a:spcAft>
              <a:defRPr sz="2000"/>
            </a:pPr>
            <a:r>
              <a:t>Predictions: 281,689 normal and 3,118 anomalies.</a:t>
            </a:r>
          </a:p>
          <a:p>
            <a:pPr>
              <a:spcAft>
                <a:spcPts val="1000"/>
              </a:spcAft>
              <a:defRPr sz="2000"/>
            </a:pPr>
            <a:r>
              <a:t>Initial F1-score: 0.151801.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Local Outlier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Density-based anomaly detection.</a:t>
            </a:r>
          </a:p>
          <a:p>
            <a:pPr>
              <a:spcAft>
                <a:spcPts val="1000"/>
              </a:spcAft>
              <a:defRPr sz="2000"/>
            </a:pPr>
            <a:r>
              <a:t>Compares local density with neighboring observations.</a:t>
            </a:r>
          </a:p>
          <a:p>
            <a:pPr>
              <a:spcAft>
                <a:spcPts val="1000"/>
              </a:spcAft>
              <a:defRPr sz="2000"/>
            </a:pPr>
            <a:r>
              <a:t>Precision: 0.057459 | Recall: 0.317073 | F1: 0.097287.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Isolation Forest: [[281471, 2844], [218, 274]].</a:t>
            </a:r>
          </a:p>
          <a:p>
            <a:pPr>
              <a:spcAft>
                <a:spcPts val="1000"/>
              </a:spcAft>
              <a:defRPr sz="2000"/>
            </a:pPr>
            <a:r>
              <a:t>LOF: [[281756, 2559], [336, 156]].</a:t>
            </a:r>
          </a:p>
          <a:p>
            <a:pPr>
              <a:spcAft>
                <a:spcPts val="1000"/>
              </a:spcAft>
              <a:defRPr sz="2000"/>
            </a:pPr>
            <a:r>
              <a:t>These show the trade-off between detected fraud and false alarms.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Isolation Forest: Precision 0.087877 | Recall 0.556911 | F1 0.151801.</a:t>
            </a:r>
          </a:p>
          <a:p>
            <a:pPr>
              <a:spcAft>
                <a:spcPts val="1000"/>
              </a:spcAft>
              <a:defRPr sz="2000"/>
            </a:pPr>
            <a:r>
              <a:t>LOF: Precision 0.057459 | Recall 0.317073 | F1 0.097287.</a:t>
            </a:r>
          </a:p>
          <a:p>
            <a:pPr>
              <a:spcAft>
                <a:spcPts val="1000"/>
              </a:spcAft>
              <a:defRPr sz="2000"/>
            </a:pPr>
            <a:r>
              <a:t>Isolation Forest performed better in the recorded initial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Contamination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Tested multiple contamination configurations.</a:t>
            </a:r>
          </a:p>
          <a:p>
            <a:pPr>
              <a:spcAft>
                <a:spcPts val="1000"/>
              </a:spcAft>
              <a:defRPr sz="2000"/>
            </a:pPr>
            <a:r>
              <a:t>Best recorded value: 0.005.</a:t>
            </a:r>
          </a:p>
          <a:p>
            <a:pPr>
              <a:spcAft>
                <a:spcPts val="1000"/>
              </a:spcAft>
              <a:defRPr sz="2000"/>
            </a:pPr>
            <a:r>
              <a:t>Precision: 0.1276 | Recall: 0.4228 | F1: 0.1960.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Recommended model: Isolation Forest.</a:t>
            </a:r>
          </a:p>
          <a:p>
            <a:pPr>
              <a:spcAft>
                <a:spcPts val="1000"/>
              </a:spcAft>
              <a:defRPr sz="2000"/>
            </a:pPr>
            <a:r>
              <a:t>Recommended contamination: 0.005.</a:t>
            </a:r>
          </a:p>
          <a:p>
            <a:pPr>
              <a:spcAft>
                <a:spcPts val="1000"/>
              </a:spcAft>
              <a:defRPr sz="2000"/>
            </a:pPr>
            <a:r>
              <a:t>Reason: highest recorded F1-score among the tested configurations.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project demonstrates unsupervised fraud detection under extreme imbalance.</a:t>
            </a:r>
          </a:p>
          <a:p>
            <a:pPr>
              <a:spcAft>
                <a:spcPts val="1000"/>
              </a:spcAft>
              <a:defRPr sz="2000"/>
            </a:pPr>
            <a:r>
              <a:t>Future: One-Class SVM, Autoencoders, broader tuning, real-time API, business thresholds and drift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